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17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42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56A00">
              <a:alpha val="15000"/>
            </a:srgbClr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Pembentangan Kemajuan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56A00"/>
                </a:solidFill>
              </a:rPr>
              <a:t>Sistem Pengurusan Sains Sukan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487168"/>
            <a:ext cx="5486400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596897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</a:rPr>
              <a:t>Majlis Sukan Pahang  ·  Jabatan Sains Sukan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16937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</a:rPr>
              <a:t>12 Mei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794760"/>
            <a:ext cx="2011680" cy="54864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 Modul Utama</a:t>
            </a:r>
            <a:endParaRPr lang="en-US" sz="1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83AD523-3FD3-B0EA-0E9B-F8ECBF4EF1AA}"/>
              </a:ext>
            </a:extLst>
          </p:cNvPr>
          <p:cNvSpPr/>
          <p:nvPr/>
        </p:nvSpPr>
        <p:spPr>
          <a:xfrm>
            <a:off x="50292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</a:rPr>
              <a:t>Ainaa Dalila, Business Intelligence Specialist @ Graphene Digital PLT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Ringkasan Modul Sistem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868680"/>
            <a:ext cx="2057400" cy="914400"/>
          </a:xfrm>
          <a:prstGeom prst="rect">
            <a:avLst/>
          </a:prstGeom>
          <a:solidFill>
            <a:srgbClr val="FFF8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868680"/>
            <a:ext cx="54864" cy="9144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" y="960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6A00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1752" y="11978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Profil Atlet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14173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Pendaftaran &amp; pengurusan data atlet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13432" y="868680"/>
            <a:ext cx="2057400" cy="914400"/>
          </a:xfrm>
          <a:prstGeom prst="rect">
            <a:avLst/>
          </a:prstGeom>
          <a:solidFill>
            <a:srgbClr val="FFF8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13432" y="868680"/>
            <a:ext cx="54864" cy="9144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960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6A00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50592" y="11978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Kecergasan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4173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Konfigurasi &amp; ujian kecergasan (4 fasa)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62272" y="868680"/>
            <a:ext cx="2057400" cy="914400"/>
          </a:xfrm>
          <a:prstGeom prst="rect">
            <a:avLst/>
          </a:prstGeom>
          <a:solidFill>
            <a:srgbClr val="FFF8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62272" y="868680"/>
            <a:ext cx="54864" cy="9144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99432" y="960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6A00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9432" y="11978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Strength &amp; Conditioning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9432" y="14173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Rekod </a:t>
            </a:r>
            <a:r>
              <a:rPr lang="en-US" sz="800" dirty="0" err="1">
                <a:solidFill>
                  <a:srgbClr val="555555"/>
                </a:solidFill>
              </a:rPr>
              <a:t>sesi</a:t>
            </a:r>
            <a:r>
              <a:rPr lang="en-US" sz="800" dirty="0">
                <a:solidFill>
                  <a:srgbClr val="555555"/>
                </a:solidFill>
              </a:rPr>
              <a:t> </a:t>
            </a:r>
            <a:r>
              <a:rPr lang="en-US" sz="800" dirty="0" err="1">
                <a:solidFill>
                  <a:srgbClr val="555555"/>
                </a:solidFill>
              </a:rPr>
              <a:t>latihan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11112" y="868680"/>
            <a:ext cx="2057400" cy="914400"/>
          </a:xfrm>
          <a:prstGeom prst="rect">
            <a:avLst/>
          </a:prstGeom>
          <a:solidFill>
            <a:srgbClr val="FFF8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11112" y="868680"/>
            <a:ext cx="54864" cy="9144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48272" y="960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6A00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48272" y="11978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InBody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48272" y="141732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Penilaian komposisi badan atlet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4592" y="1920240"/>
            <a:ext cx="2057400" cy="914400"/>
          </a:xfrm>
          <a:prstGeom prst="rect">
            <a:avLst/>
          </a:prstGeom>
          <a:solidFill>
            <a:srgbClr val="FFF8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4592" y="1920240"/>
            <a:ext cx="54864" cy="9144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1752" y="2011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6A00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1752" y="224942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Suplemen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" y="24688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Pengurusan inventori &amp; aliran kelulusan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13432" y="1920240"/>
            <a:ext cx="2057400" cy="914400"/>
          </a:xfrm>
          <a:prstGeom prst="rect">
            <a:avLst/>
          </a:prstGeom>
          <a:solidFill>
            <a:srgbClr val="FFF8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313432" y="1920240"/>
            <a:ext cx="54864" cy="9144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50592" y="2011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6A00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450592" y="224942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Fisioterapi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50592" y="24688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Penjadualan &amp; pengurusan kes kecederaan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62272" y="1920240"/>
            <a:ext cx="2057400" cy="914400"/>
          </a:xfrm>
          <a:prstGeom prst="rect">
            <a:avLst/>
          </a:prstGeom>
          <a:solidFill>
            <a:srgbClr val="FFF8F3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462272" y="1920240"/>
            <a:ext cx="54864" cy="9144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99432" y="2011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6A00"/>
                </a:solidFill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99432" y="224942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Laporan &amp; Admin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99432" y="24688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Jana laporan &amp; pengurusan pengguna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/  Profil Atlet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347472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Aliran Proses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1353312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35331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105156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399032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Daftar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Atlet Baru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81912" y="19110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82496" y="18470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19072" y="987552"/>
            <a:ext cx="1353312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91640" y="960120"/>
            <a:ext cx="135331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91640" y="96012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21992" y="105156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21992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37360" y="1399032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Isi Maklumat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Atlet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(nama, IC, sukan,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kategori)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44952" y="19110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45536" y="18470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82112" y="987552"/>
            <a:ext cx="1353312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54680" y="960120"/>
            <a:ext cx="135331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54680" y="96012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85032" y="105156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85032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0" y="1399032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Muat Naik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Gambar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(pilihan)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07992" y="19110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08576" y="18470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45152" y="987552"/>
            <a:ext cx="1353312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960120"/>
            <a:ext cx="135331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96012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148072" y="105156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48072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1399032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Simpan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Profil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71032" y="19110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71616" y="18470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08192" y="987552"/>
            <a:ext cx="1353312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80760" y="960120"/>
            <a:ext cx="135331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0760" y="96012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611112" y="105156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11112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1399032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Kemaskini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Status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(Aktif / Rehat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Cedera)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34072" y="19110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534656" y="18470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571232" y="987552"/>
            <a:ext cx="1353312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543800" y="960120"/>
            <a:ext cx="135331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543800" y="96012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074152" y="105156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074152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89520" y="1399032"/>
            <a:ext cx="1261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Lihat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Profil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Lengkap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3063240"/>
            <a:ext cx="8686800" cy="1645920"/>
          </a:xfrm>
          <a:prstGeom prst="rect">
            <a:avLst/>
          </a:prstGeom>
          <a:solidFill>
            <a:srgbClr val="FFF3E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A00"/>
                </a:solidFill>
              </a:rPr>
              <a:t>Maklumat Yang Direkod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1480" y="3474720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11480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Nama Penuh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514600" y="3474720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514600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No. IC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617720" y="3474720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17720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Tarikh Lahir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720840" y="3474720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720840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Jantina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11480" y="3730752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11480" y="3730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Sukan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14600" y="3730752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514600" y="3730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Kategori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17720" y="3730752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617720" y="3730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Status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720840" y="3730752"/>
            <a:ext cx="19202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720840" y="3730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Berat / Tinggi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1148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</a:rPr>
              <a:t>Status Atlet: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600200" y="4041648"/>
            <a:ext cx="1280160" cy="256032"/>
          </a:xfrm>
          <a:prstGeom prst="rect">
            <a:avLst/>
          </a:prstGeom>
          <a:solidFill>
            <a:srgbClr val="3A9E6A">
              <a:alpha val="15000"/>
            </a:srgbClr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60020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9E6A"/>
                </a:solidFill>
              </a:rPr>
              <a:t>AKTIF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017520" y="4041648"/>
            <a:ext cx="1280160" cy="256032"/>
          </a:xfrm>
          <a:prstGeom prst="rect">
            <a:avLst/>
          </a:prstGeom>
          <a:solidFill>
            <a:srgbClr val="F56A00">
              <a:alpha val="15000"/>
            </a:srgbClr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01752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6A00"/>
                </a:solidFill>
              </a:rPr>
              <a:t>REHAT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434840" y="4041648"/>
            <a:ext cx="1280160" cy="256032"/>
          </a:xfrm>
          <a:prstGeom prst="rect">
            <a:avLst/>
          </a:prstGeom>
          <a:solidFill>
            <a:srgbClr val="D44040">
              <a:alpha val="15000"/>
            </a:srgbClr>
          </a:solidFill>
          <a:ln w="12700">
            <a:solidFill>
              <a:srgbClr val="D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4348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4040"/>
                </a:solidFill>
              </a:rPr>
              <a:t>CEDERA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28600" y="4617720"/>
            <a:ext cx="8686800" cy="320040"/>
          </a:xfrm>
          <a:prstGeom prst="rect">
            <a:avLst/>
          </a:prstGeom>
          <a:solidFill>
            <a:srgbClr val="FFF3CD"/>
          </a:solidFill>
          <a:ln w="63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28600" y="4617720"/>
            <a:ext cx="64008" cy="320040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84048" y="4617720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5000"/>
                </a:solidFill>
              </a:rPr>
              <a:t>Nota: Senarai kategori atlet masih belum diterima – menunggu pengesahan daripada pihak MSP.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/  Ujian Kecergasan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347472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A00"/>
                </a:solidFill>
              </a:rPr>
              <a:t>Fasa A — Konfigurasi Ujian  (Admin Sahaja)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19659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41248"/>
            <a:ext cx="196596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5276" y="932688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5276" y="932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280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Pilih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Sukan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1540764"/>
            <a:ext cx="164592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50008" y="1476756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86584" y="868680"/>
            <a:ext cx="19659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59152" y="841248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59152" y="841248"/>
            <a:ext cx="196596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95828" y="932688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95828" y="932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04872" y="1280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Semak Senarai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Definisi Ujian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(mengikut kategori)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25112" y="1540764"/>
            <a:ext cx="164592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0" y="1476756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17136" y="868680"/>
            <a:ext cx="19659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9704" y="841248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9704" y="841248"/>
            <a:ext cx="196596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26380" y="932688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26380" y="932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35424" y="1280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Toggle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Ujian ON/OFF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untuk sukan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55664" y="1540764"/>
            <a:ext cx="164592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11112" y="1476756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47688" y="868680"/>
            <a:ext cx="19659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20256" y="841248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20256" y="841248"/>
            <a:ext cx="196596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56932" y="932688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56932" y="932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65976" y="12801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Simpan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Konfigurasi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Sukan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395728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2487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A00"/>
                </a:solidFill>
              </a:rPr>
              <a:t>Fasa B — Rekod Ujian Kecergasan  (Coach / Admin)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86207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28600" y="283464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8600" y="283464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8952" y="29260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5895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327355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Pilih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Atlet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581912" y="37398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682496" y="36758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719072" y="286207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691640" y="283464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691640" y="283464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221992" y="29260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2199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737360" y="327355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Tetapkan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Fasa &amp; Tahun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(Fasa 1–4)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44952" y="37398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145536" y="36758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182112" y="286207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154680" y="283464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154680" y="283464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685032" y="29260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8503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00400" y="327355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Senarai Ujian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Dimuat Auto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(mengikut sukan)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07992" y="37398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608576" y="36758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645152" y="286207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617720" y="283464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617720" y="283464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148072" y="29260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14807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63440" y="327355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Keputusan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Ujian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971032" y="37398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071616" y="36758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108192" y="286207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080760" y="283464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080760" y="283464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611112" y="29260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61111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126480" y="327355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Penilaian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Auto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(Baik/Sederhana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/Lemah)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434072" y="373989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534656" y="367588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571232" y="286207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543800" y="283464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543800" y="283464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074152" y="29260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074152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589520" y="327355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Simpan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Semak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History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28600" y="4754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</a:rPr>
              <a:t>Rating Auto: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325880" y="4754880"/>
            <a:ext cx="1280160" cy="256032"/>
          </a:xfrm>
          <a:prstGeom prst="rect">
            <a:avLst/>
          </a:prstGeom>
          <a:solidFill>
            <a:srgbClr val="3A9E6A">
              <a:alpha val="15000"/>
            </a:srgbClr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325880" y="4754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9E6A"/>
                </a:solidFill>
              </a:rPr>
              <a:t>BAIK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743200" y="4754880"/>
            <a:ext cx="1280160" cy="256032"/>
          </a:xfrm>
          <a:prstGeom prst="rect">
            <a:avLst/>
          </a:prstGeom>
          <a:solidFill>
            <a:srgbClr val="F56A00">
              <a:alpha val="15000"/>
            </a:srgbClr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743200" y="4754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6A00"/>
                </a:solidFill>
              </a:rPr>
              <a:t>SEDERHANA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160520" y="4754880"/>
            <a:ext cx="1280160" cy="256032"/>
          </a:xfrm>
          <a:prstGeom prst="rect">
            <a:avLst/>
          </a:prstGeom>
          <a:solidFill>
            <a:srgbClr val="D44040">
              <a:alpha val="15000"/>
            </a:srgbClr>
          </a:solidFill>
          <a:ln w="12700">
            <a:solidFill>
              <a:srgbClr val="D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160520" y="4754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4040"/>
                </a:solidFill>
              </a:rPr>
              <a:t>LEMAH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577840" y="4754880"/>
            <a:ext cx="1280160" cy="256032"/>
          </a:xfrm>
          <a:prstGeom prst="rect">
            <a:avLst/>
          </a:prstGeom>
          <a:solidFill>
            <a:srgbClr val="888888">
              <a:alpha val="15000"/>
            </a:srgbClr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577840" y="4754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8"/>
                </a:solidFill>
              </a:rPr>
              <a:t>TIDAK DINILAI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/  Strength &amp; Conditioning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347472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64008" cy="34747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68580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5000"/>
                </a:solidFill>
              </a:rPr>
              <a:t>⚠  Modul ini sedang dalam pembangunan — keperluan penuh masih menunggu pengesahan daripada PIC (S&amp;C). Fungsi asas telah siap dibina.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" y="1124712"/>
            <a:ext cx="2788920" cy="274320"/>
          </a:xfrm>
          <a:prstGeom prst="rect">
            <a:avLst/>
          </a:prstGeom>
          <a:solidFill>
            <a:srgbClr val="3A7EC8">
              <a:alpha val="12000"/>
            </a:srgbClr>
          </a:solidFill>
          <a:ln w="1016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1124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7EC8"/>
                </a:solidFill>
              </a:rPr>
              <a:t>A — Jadual Jurulatih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1124712"/>
            <a:ext cx="2788920" cy="274320"/>
          </a:xfrm>
          <a:prstGeom prst="rect">
            <a:avLst/>
          </a:prstGeom>
          <a:solidFill>
            <a:srgbClr val="3A9E6A">
              <a:alpha val="12000"/>
            </a:srgbClr>
          </a:solidFill>
          <a:ln w="1016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1124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9E6A"/>
                </a:solidFill>
              </a:rPr>
              <a:t>B — Program Bulanan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08192" y="1124712"/>
            <a:ext cx="2788920" cy="274320"/>
          </a:xfrm>
          <a:prstGeom prst="rect">
            <a:avLst/>
          </a:prstGeom>
          <a:solidFill>
            <a:srgbClr val="F56A00">
              <a:alpha val="12000"/>
            </a:srgbClr>
          </a:solidFill>
          <a:ln w="1016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08192" y="11247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6A00"/>
                </a:solidFill>
              </a:rPr>
              <a:t>C — Kehadiran Sesi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9456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1168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" y="1481328"/>
            <a:ext cx="594360" cy="54864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0332" y="1572768"/>
            <a:ext cx="256032" cy="256032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0332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8600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Tetapkan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Jurulatih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&amp; Sukan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95528" y="2189988"/>
            <a:ext cx="54864" cy="0"/>
          </a:xfrm>
          <a:prstGeom prst="line">
            <a:avLst/>
          </a:prstGeom>
          <a:noFill/>
          <a:ln w="1524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0392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0392" y="1481328"/>
            <a:ext cx="594360" cy="54864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9556" y="1572768"/>
            <a:ext cx="256032" cy="256032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9556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77824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Pilih Hari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Latihan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(Isnin–Ahad)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444752" y="2189988"/>
            <a:ext cx="54864" cy="0"/>
          </a:xfrm>
          <a:prstGeom prst="line">
            <a:avLst/>
          </a:prstGeom>
          <a:noFill/>
          <a:ln w="1524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517904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99616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499616" y="1481328"/>
            <a:ext cx="594360" cy="54864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668780" y="1572768"/>
            <a:ext cx="256032" cy="256032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6878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527048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Simpan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Tugasan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093976" y="2189988"/>
            <a:ext cx="54864" cy="0"/>
          </a:xfrm>
          <a:prstGeom prst="line">
            <a:avLst/>
          </a:prstGeom>
          <a:noFill/>
          <a:ln w="1524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167128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148840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148840" y="1481328"/>
            <a:ext cx="594360" cy="54864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318004" y="1572768"/>
            <a:ext cx="256032" cy="256032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18004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176272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Lihat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Kalender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Bulanan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172968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154680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154680" y="1481328"/>
            <a:ext cx="594360" cy="54864"/>
          </a:xfrm>
          <a:prstGeom prst="rect">
            <a:avLst/>
          </a:prstGeom>
          <a:solidFill>
            <a:srgbClr val="3A9E6A"/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323844" y="1572768"/>
            <a:ext cx="256032" cy="256032"/>
          </a:xfrm>
          <a:prstGeom prst="ellipse">
            <a:avLst/>
          </a:prstGeom>
          <a:solidFill>
            <a:srgbClr val="3A9E6A"/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23844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182112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Pilih Sukan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&amp; Bulan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749040" y="2189988"/>
            <a:ext cx="54864" cy="0"/>
          </a:xfrm>
          <a:prstGeom prst="line">
            <a:avLst/>
          </a:prstGeom>
          <a:noFill/>
          <a:ln w="1524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822192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803904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803904" y="1481328"/>
            <a:ext cx="594360" cy="54864"/>
          </a:xfrm>
          <a:prstGeom prst="rect">
            <a:avLst/>
          </a:prstGeom>
          <a:solidFill>
            <a:srgbClr val="3A9E6A"/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973068" y="1572768"/>
            <a:ext cx="256032" cy="256032"/>
          </a:xfrm>
          <a:prstGeom prst="ellipse">
            <a:avLst/>
          </a:prstGeom>
          <a:solidFill>
            <a:srgbClr val="3A9E6A"/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973068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831336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Input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Kandungan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Program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398264" y="2189988"/>
            <a:ext cx="54864" cy="0"/>
          </a:xfrm>
          <a:prstGeom prst="line">
            <a:avLst/>
          </a:prstGeom>
          <a:noFill/>
          <a:ln w="1524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471416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453128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453128" y="1481328"/>
            <a:ext cx="594360" cy="54864"/>
          </a:xfrm>
          <a:prstGeom prst="rect">
            <a:avLst/>
          </a:prstGeom>
          <a:solidFill>
            <a:srgbClr val="3A9E6A"/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622292" y="1572768"/>
            <a:ext cx="256032" cy="256032"/>
          </a:xfrm>
          <a:prstGeom prst="ellipse">
            <a:avLst/>
          </a:prstGeom>
          <a:solidFill>
            <a:srgbClr val="3A9E6A"/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22292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480560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Simpan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Program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047488" y="2189988"/>
            <a:ext cx="54864" cy="0"/>
          </a:xfrm>
          <a:prstGeom prst="line">
            <a:avLst/>
          </a:prstGeom>
          <a:noFill/>
          <a:ln w="1524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120640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102352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102352" y="1481328"/>
            <a:ext cx="594360" cy="54864"/>
          </a:xfrm>
          <a:prstGeom prst="rect">
            <a:avLst/>
          </a:prstGeom>
          <a:solidFill>
            <a:srgbClr val="3A9E6A"/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271516" y="1572768"/>
            <a:ext cx="256032" cy="256032"/>
          </a:xfrm>
          <a:prstGeom prst="ellipse">
            <a:avLst/>
          </a:prstGeom>
          <a:solidFill>
            <a:srgbClr val="3A9E6A"/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271516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129784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Semak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Grid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12 Bulan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126480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108192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108192" y="1481328"/>
            <a:ext cx="594360" cy="54864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277356" y="1572768"/>
            <a:ext cx="256032" cy="256032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77356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135624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Pilih Atlet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&amp; Tarikh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702552" y="2189988"/>
            <a:ext cx="54864" cy="0"/>
          </a:xfrm>
          <a:prstGeom prst="line">
            <a:avLst/>
          </a:prstGeom>
          <a:noFill/>
          <a:ln w="1524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775704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757416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757416" y="1481328"/>
            <a:ext cx="594360" cy="54864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926580" y="1572768"/>
            <a:ext cx="256032" cy="256032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92658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784848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Rekod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Kehadiran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(Hadir/Tidak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Hadir/MC)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351776" y="2189988"/>
            <a:ext cx="54864" cy="0"/>
          </a:xfrm>
          <a:prstGeom prst="line">
            <a:avLst/>
          </a:prstGeom>
          <a:noFill/>
          <a:ln w="1524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424928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406640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406640" y="1481328"/>
            <a:ext cx="594360" cy="54864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575804" y="1572768"/>
            <a:ext cx="256032" cy="256032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575804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7434072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Catat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Program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Latihan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8001000" y="2189988"/>
            <a:ext cx="54864" cy="0"/>
          </a:xfrm>
          <a:prstGeom prst="line">
            <a:avLst/>
          </a:prstGeom>
          <a:noFill/>
          <a:ln w="1524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074152" y="1499616"/>
            <a:ext cx="59436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055864" y="1481328"/>
            <a:ext cx="5943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055864" y="1481328"/>
            <a:ext cx="594360" cy="54864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225028" y="1572768"/>
            <a:ext cx="256032" cy="256032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8225028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8083296" y="1865376"/>
            <a:ext cx="539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Simpan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&amp; Lihat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1A1A"/>
                </a:solidFill>
              </a:rPr>
              <a:t>Histori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201168" y="3063240"/>
            <a:ext cx="8741664" cy="18745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84048" y="31363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5"/>
                </a:solidFill>
              </a:rPr>
              <a:t>Sub-Modul yang Telah Dibina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84048" y="3438144"/>
            <a:ext cx="2651760" cy="54864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384048" y="35478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7EC8"/>
                </a:solidFill>
              </a:rPr>
              <a:t>Jadual Jurulatih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384048" y="37673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Tugasan jurulatih ke sukan &amp; hari latihan. Paparan kalender bulanan.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3218688" y="3438144"/>
            <a:ext cx="2651760" cy="54864"/>
          </a:xfrm>
          <a:prstGeom prst="rect">
            <a:avLst/>
          </a:prstGeom>
          <a:solidFill>
            <a:srgbClr val="3A9E6A"/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3218688" y="35478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9E6A"/>
                </a:solidFill>
              </a:rPr>
              <a:t>Program Bulanan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3218688" y="37673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Rekod program latihan bulanan mengikut sukan. Grid 12 bulan.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053328" y="3438144"/>
            <a:ext cx="2651760" cy="54864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053328" y="35478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A00"/>
                </a:solidFill>
              </a:rPr>
              <a:t>Kehadiran Sesi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6053328" y="37673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Rekod kehadiran atlet setiap sesi. Status: Hadir / Tidak Hadir / MC.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384048" y="4663440"/>
            <a:ext cx="8558784" cy="228600"/>
          </a:xfrm>
          <a:prstGeom prst="rect">
            <a:avLst/>
          </a:prstGeom>
          <a:solidFill>
            <a:srgbClr val="FFF3CD"/>
          </a:solidFill>
          <a:ln w="63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75488" y="4663440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5000"/>
                </a:solidFill>
              </a:rPr>
              <a:t>Nota: Skop penuh modul ini (termasuk data latihan terperinci) bergantung kepada input daripada PIC S&amp;C. Modul sedia untuk dikembangkan setelah keperluan diterima.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/  Penilaian InBody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347472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Aliran Proses — Rekod Komposisi Badan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" y="1033272"/>
            <a:ext cx="1508760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508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1508760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5276" y="10972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5276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444752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Pilih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Atlet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956816"/>
            <a:ext cx="274320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31136" y="189280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67712" y="1033272"/>
            <a:ext cx="1508760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40280" y="1005840"/>
            <a:ext cx="1508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40280" y="1005840"/>
            <a:ext cx="1508760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48356" y="10972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48356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1444752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Input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InBody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(berat, SMM,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BMI, lemak...)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1956816"/>
            <a:ext cx="274320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14216" y="189280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50792" y="1033272"/>
            <a:ext cx="1508760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23360" y="1005840"/>
            <a:ext cx="1508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023360" y="1005840"/>
            <a:ext cx="1508760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31436" y="10972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31436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69080" y="1444752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Simpan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Rekod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1956816"/>
            <a:ext cx="274320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97296" y="189280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33872" y="1033272"/>
            <a:ext cx="1508760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06440" y="1005840"/>
            <a:ext cx="1508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806440" y="1005840"/>
            <a:ext cx="1508760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14516" y="10972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14516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52160" y="1444752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Penilaian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Auto SUKMA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Norm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0" y="1956816"/>
            <a:ext cx="274320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80376" y="189280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16952" y="1033272"/>
            <a:ext cx="1508760" cy="19202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589520" y="1005840"/>
            <a:ext cx="1508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589520" y="1005840"/>
            <a:ext cx="1508760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97596" y="109728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197596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635240" y="1444752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Lihat Graf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Trend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Komposisi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" y="3127248"/>
            <a:ext cx="8686800" cy="1691640"/>
          </a:xfrm>
          <a:prstGeom prst="rect">
            <a:avLst/>
          </a:prstGeom>
          <a:solidFill>
            <a:srgbClr val="FFF3E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1480" y="32186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A00"/>
                </a:solidFill>
              </a:rPr>
              <a:t>Norma Penilaian SUKMA (Auto-dikira Sistem)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3538728"/>
            <a:ext cx="2606040" cy="256032"/>
          </a:xfrm>
          <a:prstGeom prst="rect">
            <a:avLst/>
          </a:prstGeom>
          <a:solidFill>
            <a:srgbClr val="1C1C2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35387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  Parameter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154680" y="3538728"/>
            <a:ext cx="2606040" cy="256032"/>
          </a:xfrm>
          <a:prstGeom prst="rect">
            <a:avLst/>
          </a:prstGeom>
          <a:solidFill>
            <a:srgbClr val="1C1C2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154680" y="35387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  BAIK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897880" y="3538728"/>
            <a:ext cx="2606040" cy="256032"/>
          </a:xfrm>
          <a:prstGeom prst="rect">
            <a:avLst/>
          </a:prstGeom>
          <a:solidFill>
            <a:srgbClr val="1C1C2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97880" y="35387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  SEDERHANA / MELEBIHI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11480" y="3813048"/>
            <a:ext cx="2606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3813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Skeletal Muscle Mass (SMM)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154680" y="3813048"/>
            <a:ext cx="2606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154680" y="3813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≥ 30 kg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97880" y="3813048"/>
            <a:ext cx="2606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897880" y="3813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&lt; 30 kg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1480" y="4087368"/>
            <a:ext cx="2606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1480" y="4087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BMI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154680" y="4087368"/>
            <a:ext cx="2606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154680" y="4087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18 – 24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897880" y="4087368"/>
            <a:ext cx="2606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897880" y="4087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&lt; 18 (rendah)  /  &gt; 24 (tinggi)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11480" y="4361688"/>
            <a:ext cx="2606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11480" y="4361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Peratusan Lemak Badan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154680" y="4361688"/>
            <a:ext cx="2606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154680" y="4361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≤ 15%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897880" y="4361688"/>
            <a:ext cx="2606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897880" y="4361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  &gt; 15%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 /  Pengurusan Suplemen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347472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7EC8"/>
                </a:solidFill>
              </a:rPr>
              <a:t>Fasa A — Pengurusan Inventori  (Admin)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32104"/>
            <a:ext cx="1965960" cy="13258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19659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196596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5276" y="896112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5276" y="896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24358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Tambah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Suplemen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Baru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1458468"/>
            <a:ext cx="164592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50008" y="1394460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86584" y="832104"/>
            <a:ext cx="1965960" cy="13258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59152" y="804672"/>
            <a:ext cx="19659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59152" y="804672"/>
            <a:ext cx="196596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95828" y="896112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95828" y="896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04872" y="124358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Isi Nama,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Stok, Unit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Tarikh Luput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25112" y="1458468"/>
            <a:ext cx="164592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0" y="1394460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17136" y="832104"/>
            <a:ext cx="1965960" cy="13258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9704" y="804672"/>
            <a:ext cx="19659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9704" y="804672"/>
            <a:ext cx="196596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26380" y="896112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26380" y="896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35424" y="124358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Simpan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Inventori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55664" y="1458468"/>
            <a:ext cx="164592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11112" y="1394460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47688" y="832104"/>
            <a:ext cx="1965960" cy="13258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20256" y="804672"/>
            <a:ext cx="19659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20256" y="804672"/>
            <a:ext cx="196596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56932" y="896112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56932" y="896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65976" y="124358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Kemaskini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Stok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(bila perlu)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249424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23408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A00"/>
                </a:solidFill>
              </a:rPr>
              <a:t>Fasa B — Aliran Permohonan &amp; Kelulusan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67919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28600" y="265176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8600" y="265176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8952" y="274320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58952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309067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1A1A"/>
                </a:solidFill>
              </a:rPr>
              <a:t>Jurulatih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Hantar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Permohonan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(sukan, suplemen,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kuantiti)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581912" y="355701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682496" y="349300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719072" y="267919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691640" y="265176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691640" y="265176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221992" y="274320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21992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737360" y="309067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Senarai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Permohonan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(semak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filter status)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44952" y="355701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145536" y="349300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182112" y="267919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154680" y="265176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154680" y="265176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685032" y="274320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85032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00400" y="309067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err="1"/>
              <a:t>Penyelaras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Semak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(Lulus / Tolak)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07992" y="355701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608576" y="349300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645152" y="267919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617720" y="265176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617720" y="265176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148072" y="274320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148072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63440" y="309067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1A1A"/>
                </a:solidFill>
              </a:rPr>
              <a:t>Pegawai</a:t>
            </a:r>
            <a:r>
              <a:rPr lang="en-US" sz="900" dirty="0">
                <a:solidFill>
                  <a:srgbClr val="1A1A1A"/>
                </a:solidFill>
              </a:rPr>
              <a:t> </a:t>
            </a:r>
            <a:r>
              <a:rPr lang="en-US" sz="900" dirty="0" err="1">
                <a:solidFill>
                  <a:srgbClr val="1A1A1A"/>
                </a:solidFill>
              </a:rPr>
              <a:t>Pelulus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Beri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Kelulusan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971032" y="355701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071616" y="349300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108192" y="2679192"/>
            <a:ext cx="1353312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080760" y="2651760"/>
            <a:ext cx="135331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080760" y="265176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611112" y="274320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611112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126480" y="3090672"/>
            <a:ext cx="1261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Status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Dikemaskini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(Diluluskan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Sebahagian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Ditolak)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28600" y="4636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</a:rPr>
              <a:t>Aliran Status: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280160" y="4636008"/>
            <a:ext cx="1280160" cy="256032"/>
          </a:xfrm>
          <a:prstGeom prst="rect">
            <a:avLst/>
          </a:prstGeom>
          <a:solidFill>
            <a:srgbClr val="3A7EC8">
              <a:alpha val="15000"/>
            </a:srgbClr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280160" y="4636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7EC8"/>
                </a:solidFill>
              </a:rPr>
              <a:t>MENUNGGU SEMAKAN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834640" y="4636008"/>
            <a:ext cx="1280160" cy="256032"/>
          </a:xfrm>
          <a:prstGeom prst="rect">
            <a:avLst/>
          </a:prstGeom>
          <a:solidFill>
            <a:srgbClr val="E8A000">
              <a:alpha val="15000"/>
            </a:srgbClr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834640" y="4636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A000"/>
                </a:solidFill>
              </a:rPr>
              <a:t>MENUNGGU KELULUSAN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389120" y="4636008"/>
            <a:ext cx="1280160" cy="256032"/>
          </a:xfrm>
          <a:prstGeom prst="rect">
            <a:avLst/>
          </a:prstGeom>
          <a:solidFill>
            <a:srgbClr val="3A9E6A">
              <a:alpha val="15000"/>
            </a:srgbClr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389120" y="4636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9E6A"/>
                </a:solidFill>
              </a:rPr>
              <a:t>DILULUSKAN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5943600" y="4636008"/>
            <a:ext cx="1280160" cy="256032"/>
          </a:xfrm>
          <a:prstGeom prst="rect">
            <a:avLst/>
          </a:prstGeom>
          <a:solidFill>
            <a:srgbClr val="F56A00">
              <a:alpha val="15000"/>
            </a:srgbClr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943600" y="4636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6A00"/>
                </a:solidFill>
              </a:rPr>
              <a:t>SEBAHAGIAN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498080" y="4636008"/>
            <a:ext cx="1280160" cy="256032"/>
          </a:xfrm>
          <a:prstGeom prst="rect">
            <a:avLst/>
          </a:prstGeom>
          <a:solidFill>
            <a:srgbClr val="D44040">
              <a:alpha val="15000"/>
            </a:srgbClr>
          </a:solidFill>
          <a:ln w="12700">
            <a:solidFill>
              <a:srgbClr val="D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498080" y="46360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4040"/>
                </a:solidFill>
              </a:rPr>
              <a:t>DITOLAK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 /  Fisioterapi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347472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Aliran Proses — Penjadualan &amp; Pengurusan Kes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41832"/>
            <a:ext cx="1353312" cy="19659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53312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100584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353312"/>
            <a:ext cx="1261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Buka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Slot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Fisioterapi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81912" y="188823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82496" y="182422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19072" y="941832"/>
            <a:ext cx="1353312" cy="19659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91640" y="914400"/>
            <a:ext cx="1353312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91640" y="91440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21992" y="100584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21992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37360" y="1353312"/>
            <a:ext cx="1261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Tempah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Atlet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(tarikh, masa,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jenis sesi)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44952" y="188823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45536" y="182422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82112" y="941832"/>
            <a:ext cx="1353312" cy="19659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54680" y="914400"/>
            <a:ext cx="1353312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54680" y="91440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85032" y="100584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85032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0" y="1353312"/>
            <a:ext cx="1261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Rekod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Penilaian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(aduan, diagnosis)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07992" y="188823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08576" y="182422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45152" y="941832"/>
            <a:ext cx="1353312" cy="19659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914400"/>
            <a:ext cx="1353312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91440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148072" y="100584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48072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1353312"/>
            <a:ext cx="1261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Kemaskini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Kehadiran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(Hadir/Selesai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/Tidak Hadir)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71032" y="188823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71616" y="182422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08192" y="941832"/>
            <a:ext cx="1353312" cy="19659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80760" y="914400"/>
            <a:ext cx="1353312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0760" y="91440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611112" y="100584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11112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1353312"/>
            <a:ext cx="1261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Urus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Fisioterapi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34072" y="1888236"/>
            <a:ext cx="109728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534656" y="1824228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571232" y="941832"/>
            <a:ext cx="1353312" cy="19659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543800" y="914400"/>
            <a:ext cx="1353312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543800" y="914400"/>
            <a:ext cx="1353312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074152" y="1005840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074152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89520" y="1353312"/>
            <a:ext cx="1261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Tutup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Rujuk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Kes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3090672"/>
            <a:ext cx="4160520" cy="1691640"/>
          </a:xfrm>
          <a:prstGeom prst="rect">
            <a:avLst/>
          </a:prstGeom>
          <a:solidFill>
            <a:srgbClr val="FFF3E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A00"/>
                </a:solidFill>
              </a:rPr>
              <a:t>Jenis Sesi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1480" y="3511296"/>
            <a:ext cx="1280160" cy="256032"/>
          </a:xfrm>
          <a:prstGeom prst="rect">
            <a:avLst/>
          </a:prstGeom>
          <a:solidFill>
            <a:srgbClr val="F56A00">
              <a:alpha val="15000"/>
            </a:srgbClr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11480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6A00"/>
                </a:solidFill>
              </a:rPr>
              <a:t>PENILAIAN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783080" y="3511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Sesi penilaian standard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3895344"/>
            <a:ext cx="1280160" cy="256032"/>
          </a:xfrm>
          <a:prstGeom prst="rect">
            <a:avLst/>
          </a:prstGeom>
          <a:solidFill>
            <a:srgbClr val="3A7EC8">
              <a:alpha val="15000"/>
            </a:srgbClr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11480" y="38953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7EC8"/>
                </a:solidFill>
              </a:rPr>
              <a:t>SUSULAN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783080" y="3895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Sesi susulan / pemulihan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11480" y="4279392"/>
            <a:ext cx="1280160" cy="256032"/>
          </a:xfrm>
          <a:prstGeom prst="rect">
            <a:avLst/>
          </a:prstGeom>
          <a:solidFill>
            <a:srgbClr val="D44040">
              <a:alpha val="15000"/>
            </a:srgbClr>
          </a:solidFill>
          <a:ln w="12700">
            <a:solidFill>
              <a:srgbClr val="D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1148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4040"/>
                </a:solidFill>
              </a:rPr>
              <a:t>KRISIS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783080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Kecederaan akut / kecemasan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17720" y="3090672"/>
            <a:ext cx="4297680" cy="1691640"/>
          </a:xfrm>
          <a:prstGeom prst="rect">
            <a:avLst/>
          </a:prstGeom>
          <a:solidFill>
            <a:srgbClr val="FFF3E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0060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A00"/>
                </a:solidFill>
              </a:rPr>
              <a:t>Status Kehadiran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00600" y="3511296"/>
            <a:ext cx="1280160" cy="256032"/>
          </a:xfrm>
          <a:prstGeom prst="rect">
            <a:avLst/>
          </a:prstGeom>
          <a:solidFill>
            <a:srgbClr val="888888">
              <a:alpha val="15000"/>
            </a:srgbClr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800600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8888"/>
                </a:solidFill>
              </a:rPr>
              <a:t>DIJADUAL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720840" y="3511296"/>
            <a:ext cx="1280160" cy="256032"/>
          </a:xfrm>
          <a:prstGeom prst="rect">
            <a:avLst/>
          </a:prstGeom>
          <a:solidFill>
            <a:srgbClr val="3A7EC8">
              <a:alpha val="15000"/>
            </a:srgbClr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720840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7EC8"/>
                </a:solidFill>
              </a:rPr>
              <a:t>HADIR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800600" y="3895344"/>
            <a:ext cx="1280160" cy="256032"/>
          </a:xfrm>
          <a:prstGeom prst="rect">
            <a:avLst/>
          </a:prstGeom>
          <a:solidFill>
            <a:srgbClr val="3A9E6A">
              <a:alpha val="15000"/>
            </a:srgbClr>
          </a:solidFill>
          <a:ln w="12700">
            <a:solidFill>
              <a:srgbClr val="3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800600" y="38953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9E6A"/>
                </a:solidFill>
              </a:rPr>
              <a:t>SELESAI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720840" y="3895344"/>
            <a:ext cx="1280160" cy="256032"/>
          </a:xfrm>
          <a:prstGeom prst="rect">
            <a:avLst/>
          </a:prstGeom>
          <a:solidFill>
            <a:srgbClr val="D44040">
              <a:alpha val="15000"/>
            </a:srgbClr>
          </a:solidFill>
          <a:ln w="12700">
            <a:solidFill>
              <a:srgbClr val="D4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720840" y="38953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4040"/>
                </a:solidFill>
              </a:rPr>
              <a:t>TIDAK HADIR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  /  Laporan &amp; Pentadbiran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347472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7EC8"/>
                </a:solidFill>
              </a:rPr>
              <a:t>A — Jana Laporan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1920240" cy="14630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86968"/>
            <a:ext cx="19202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86968"/>
            <a:ext cx="192024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978408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2416" y="978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Pilih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Jenis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Laporan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1609344"/>
            <a:ext cx="164592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04288" y="1545336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40864" y="914400"/>
            <a:ext cx="1920240" cy="14630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13432" y="886968"/>
            <a:ext cx="19202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13432" y="886968"/>
            <a:ext cx="192024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27248" y="978408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27248" y="978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59152" y="13258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Tetapkan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Tempoh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Filter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33672" y="1609344"/>
            <a:ext cx="164592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0" y="1545336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25696" y="914400"/>
            <a:ext cx="1920240" cy="14630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98264" y="886968"/>
            <a:ext cx="19202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98264" y="886968"/>
            <a:ext cx="192024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12080" y="978408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978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43984" y="13258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Jana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Laporan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18504" y="1609344"/>
            <a:ext cx="164592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73952" y="1545336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10528" y="914400"/>
            <a:ext cx="1920240" cy="146304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83096" y="886968"/>
            <a:ext cx="19202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83096" y="886968"/>
            <a:ext cx="1920240" cy="64008"/>
          </a:xfrm>
          <a:prstGeom prst="rect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96912" y="978408"/>
            <a:ext cx="292608" cy="292608"/>
          </a:xfrm>
          <a:prstGeom prst="ellipse">
            <a:avLst/>
          </a:prstGeom>
          <a:solidFill>
            <a:srgbClr val="3A7EC8"/>
          </a:solidFill>
          <a:ln w="12700">
            <a:solidFill>
              <a:srgbClr val="3A7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96912" y="978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28816" y="13258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Eksport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Cetak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487168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2596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6A00"/>
                </a:solidFill>
              </a:rPr>
              <a:t>B — Pengurusan Pengguna  (Admin)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971800"/>
            <a:ext cx="237744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28600" y="2944368"/>
            <a:ext cx="23774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8600" y="2944368"/>
            <a:ext cx="2377440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271016" y="3035808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271016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Cipta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Akaun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Pengguna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6040" y="3643884"/>
            <a:ext cx="274320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871216" y="3579876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907792" y="2971800"/>
            <a:ext cx="237744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880360" y="2944368"/>
            <a:ext cx="23774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880360" y="2944368"/>
            <a:ext cx="2377440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922776" y="3035808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922776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92608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Tetapkan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Peranan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(Role)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57800" y="3643884"/>
            <a:ext cx="274320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522976" y="3579876"/>
            <a:ext cx="9144" cy="128016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559552" y="2971800"/>
            <a:ext cx="2377440" cy="14173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532120" y="2944368"/>
            <a:ext cx="23774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532120" y="2944368"/>
            <a:ext cx="2377440" cy="64008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574536" y="3035808"/>
            <a:ext cx="292608" cy="292608"/>
          </a:xfrm>
          <a:prstGeom prst="ellipse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574536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57784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Aktif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Suspend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</a:rPr>
              <a:t>Akaun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323331" y="2415065"/>
            <a:ext cx="6791937" cy="475488"/>
          </a:xfrm>
          <a:prstGeom prst="rect">
            <a:avLst/>
          </a:prstGeom>
          <a:solidFill>
            <a:srgbClr val="FFF3CD"/>
          </a:solidFill>
          <a:ln w="63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323331" y="2415065"/>
            <a:ext cx="50046" cy="47548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478779" y="2424209"/>
            <a:ext cx="6541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5000"/>
                </a:solidFill>
              </a:rPr>
              <a:t>⚠  Peranan Belum Disahkan (RBAC)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478779" y="2597945"/>
            <a:ext cx="6541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000"/>
                </a:solidFill>
              </a:rPr>
              <a:t>Senarai peranan di bawah adalah cadangan awal. Pengesahan muktamad mengenai peranan pengguna dan hak akses masih menunggu maklum balas klien.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697480" y="4498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</a:rPr>
              <a:t>Cadangan Peranan (Belum Muktamad):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697480" y="4728497"/>
            <a:ext cx="914400" cy="256032"/>
          </a:xfrm>
          <a:prstGeom prst="rect">
            <a:avLst/>
          </a:prstGeom>
          <a:solidFill>
            <a:srgbClr val="D44040">
              <a:alpha val="10000"/>
            </a:srgbClr>
          </a:solidFill>
          <a:ln w="12700">
            <a:solidFill>
              <a:srgbClr val="D4404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697480" y="472849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44040"/>
                </a:solidFill>
              </a:rPr>
              <a:t>SUPERADMIN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685032" y="4728497"/>
            <a:ext cx="914400" cy="256032"/>
          </a:xfrm>
          <a:prstGeom prst="rect">
            <a:avLst/>
          </a:prstGeom>
          <a:solidFill>
            <a:srgbClr val="F56A00">
              <a:alpha val="10000"/>
            </a:srgbClr>
          </a:solidFill>
          <a:ln w="12700">
            <a:solidFill>
              <a:srgbClr val="F56A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685032" y="472849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6A00"/>
                </a:solidFill>
              </a:rPr>
              <a:t>ADMIN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672584" y="4728497"/>
            <a:ext cx="914400" cy="256032"/>
          </a:xfrm>
          <a:prstGeom prst="rect">
            <a:avLst/>
          </a:prstGeom>
          <a:solidFill>
            <a:srgbClr val="3A7EC8">
              <a:alpha val="10000"/>
            </a:srgbClr>
          </a:solidFill>
          <a:ln w="12700">
            <a:solidFill>
              <a:srgbClr val="3A7E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672584" y="472849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A7EC8"/>
                </a:solidFill>
              </a:rPr>
              <a:t>JURULATIH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660136" y="4712977"/>
            <a:ext cx="914400" cy="256032"/>
          </a:xfrm>
          <a:prstGeom prst="rect">
            <a:avLst/>
          </a:prstGeom>
          <a:solidFill>
            <a:srgbClr val="1C1C2E">
              <a:alpha val="10000"/>
            </a:srgbClr>
          </a:solidFill>
          <a:ln w="12700">
            <a:solidFill>
              <a:srgbClr val="1C1C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660136" y="471297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C1C2E"/>
                </a:solidFill>
              </a:rPr>
              <a:t>ATLET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6A00"/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Penutup &amp; Perkara Tertangguh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321040" cy="0"/>
          </a:xfrm>
          <a:prstGeom prst="line">
            <a:avLst/>
          </a:prstGeom>
          <a:noFill/>
          <a:ln w="1905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9E6A"/>
                </a:solidFill>
              </a:rPr>
              <a:t>Yang Telah Siap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264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E6A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26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Semua 7 modul utama telah dibina &amp; berfungsi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E6A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Pangkalan data disambungkan melalui Supabase (real-time)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E6A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30428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Log audit bagi setiap tindakan pengguna direkod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0" cy="3200400"/>
          </a:xfrm>
          <a:prstGeom prst="line">
            <a:avLst/>
          </a:prstGeom>
          <a:noFill/>
          <a:ln w="12700">
            <a:solidFill>
              <a:srgbClr val="3333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00"/>
                </a:solidFill>
              </a:rPr>
              <a:t>Perkara Tertangguh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1426464"/>
            <a:ext cx="3931920" cy="12618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1426464"/>
            <a:ext cx="64008" cy="126187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74920" y="1517904"/>
            <a:ext cx="274320" cy="274320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2E"/>
                </a:solidFill>
              </a:rPr>
              <a:t>01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4068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Strength &amp; Conditioning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4920" y="186537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Skop penuh modul belum diterima. Keperluan terperinci masih menunggu pengesahan daripada PIC S&amp;C.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2843784"/>
            <a:ext cx="3931920" cy="12618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37760" y="2843784"/>
            <a:ext cx="64008" cy="126187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74920" y="2935224"/>
            <a:ext cx="274320" cy="274320"/>
          </a:xfrm>
          <a:prstGeom prst="ellipse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1C2E"/>
                </a:solidFill>
              </a:rPr>
              <a:t>02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40680" y="2935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RBAC — Peranan Pengguna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74920" y="328269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Senarai peranan &amp; hak akses muktamad belum disahkan. Perlu maklumat: siapa pengguna sistem dan apakah akses masing-masing.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56A00">
              <a:alpha val="15000"/>
            </a:srgbClr>
          </a:solidFill>
          <a:ln w="12700">
            <a:solidFill>
              <a:srgbClr val="F5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Majlis Sukan Pahang  ·  Jabatan Sains Sukan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912</Words>
  <Application>Microsoft Macintosh PowerPoint</Application>
  <PresentationFormat>On-screen Show (16:9)</PresentationFormat>
  <Paragraphs>358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Pembentangan Kemajuan Sistem MSP Sport Science</dc:title>
  <dc:subject>PptxGenJS Presentation</dc:subject>
  <dc:creator>PptxGenJS</dc:creator>
  <cp:lastModifiedBy>Ainaa Dalila Erwan</cp:lastModifiedBy>
  <cp:revision>6</cp:revision>
  <dcterms:created xsi:type="dcterms:W3CDTF">2026-05-12T17:25:18Z</dcterms:created>
  <dcterms:modified xsi:type="dcterms:W3CDTF">2026-05-13T06:12:02Z</dcterms:modified>
</cp:coreProperties>
</file>